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简历筛选与评估模板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86C1"/>
                </a:solidFill>
              </a:defRPr>
            </a:pPr>
            <a:r>
              <a:t>Resume Screening &amp; Evaluation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931920"/>
            <a:ext cx="393192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400"/>
              </a:spcAft>
              <a:defRPr sz="1600">
                <a:solidFill>
                  <a:srgbClr val="ECF0F1"/>
                </a:solidFill>
              </a:defRPr>
            </a:pPr>
            <a:r>
              <a:t>适用岗位: _______________</a:t>
            </a:r>
          </a:p>
          <a:p>
            <a:pPr algn="ctr">
              <a:spcAft>
                <a:spcPts val="400"/>
              </a:spcAft>
              <a:defRPr sz="1600">
                <a:solidFill>
                  <a:srgbClr val="ECF0F1"/>
                </a:solidFill>
              </a:defRPr>
            </a:pPr>
            <a:r>
              <a:t>日期: _______________</a:t>
            </a:r>
          </a:p>
          <a:p>
            <a:pPr algn="ctr">
              <a:spcAft>
                <a:spcPts val="400"/>
              </a:spcAft>
              <a:defRPr sz="1600">
                <a:solidFill>
                  <a:srgbClr val="ECF0F1"/>
                </a:solidFill>
              </a:defRPr>
            </a:pPr>
            <a:r>
              <a:t>筛选负责人: 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简历筛选流程概览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5A5A6"/>
                </a:solidFill>
              </a:defRPr>
            </a:pPr>
            <a:r>
              <a:t>Resume Screening 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11680"/>
            <a:ext cx="1097280" cy="10972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74520" y="2377440"/>
            <a:ext cx="868680" cy="3657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简历收集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5A5A6"/>
                </a:solidFill>
              </a:defRPr>
            </a:pPr>
            <a:r>
              <a:t>通过招聘渠道</a:t>
            </a:r>
            <a:br/>
            <a:r>
              <a:t>收集候选人简历</a:t>
            </a:r>
          </a:p>
        </p:txBody>
      </p:sp>
      <p:sp>
        <p:nvSpPr>
          <p:cNvPr id="11" name="Oval 10"/>
          <p:cNvSpPr/>
          <p:nvPr/>
        </p:nvSpPr>
        <p:spPr>
          <a:xfrm>
            <a:off x="2880360" y="2011680"/>
            <a:ext cx="1097280" cy="10972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14800" y="2377440"/>
            <a:ext cx="868680" cy="3657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3383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初筛过滤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5A5A6"/>
                </a:solidFill>
              </a:defRPr>
            </a:pPr>
            <a:r>
              <a:t>根据硬性条件</a:t>
            </a:r>
            <a:br/>
            <a:r>
              <a:t>快速过滤不合格简历</a:t>
            </a:r>
          </a:p>
        </p:txBody>
      </p:sp>
      <p:sp>
        <p:nvSpPr>
          <p:cNvPr id="15" name="Oval 14"/>
          <p:cNvSpPr/>
          <p:nvPr/>
        </p:nvSpPr>
        <p:spPr>
          <a:xfrm>
            <a:off x="5120640" y="2011680"/>
            <a:ext cx="1097280" cy="10972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355080" y="2377440"/>
            <a:ext cx="868680" cy="3657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383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细评打分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5A5A6"/>
                </a:solidFill>
              </a:defRPr>
            </a:pPr>
            <a:r>
              <a:t>对通过初筛的简历</a:t>
            </a:r>
            <a:br/>
            <a:r>
              <a:t>进行详细评估打分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2011680"/>
            <a:ext cx="1097280" cy="10972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95360" y="2377440"/>
            <a:ext cx="868680" cy="3657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3383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对比排序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5A5A6"/>
                </a:solidFill>
              </a:defRPr>
            </a:pPr>
            <a:r>
              <a:t>横向对比候选人</a:t>
            </a:r>
            <a:br/>
            <a:r>
              <a:t>按得分高低排序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0" y="2011680"/>
            <a:ext cx="1097280" cy="10972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383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面试邀约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5A5A6"/>
                </a:solidFill>
              </a:defRPr>
            </a:pPr>
            <a:r>
              <a:t>确定面试名单</a:t>
            </a:r>
            <a:br/>
            <a:r>
              <a:t>发出面试邀请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基本信息筛选标准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5A5A6"/>
                </a:solidFill>
              </a:defRPr>
            </a:pPr>
            <a:r>
              <a:t>硬性条件 — 任一项不满足即淘汰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8288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学历要求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7830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ECF0F1"/>
                </a:solidFill>
              </a:defRPr>
            </a:pPr>
            <a:r>
              <a:t>□ 本科及以上  □ 硕士及以上  □ 博士</a:t>
            </a:r>
            <a:br/>
            <a:r>
              <a:t>专业方向: 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874520"/>
            <a:ext cx="210312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必须满足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18288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工作经验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43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ECF0F1"/>
                </a:solidFill>
              </a:defRPr>
            </a:pPr>
            <a:r>
              <a:t>□ 应届生  □ 1-3年  □ 3-5年  □ 5-10年  □ 10年以上</a:t>
            </a:r>
            <a:br/>
            <a:r>
              <a:t>行业背景: _______________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834640"/>
            <a:ext cx="210312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必须满足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18288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专业技能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703319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ECF0F1"/>
                </a:solidFill>
              </a:defRPr>
            </a:pPr>
            <a:r>
              <a:t>核心技术: _______________</a:t>
            </a:r>
            <a:br/>
            <a:r>
              <a:t>工具/软件: _______________</a:t>
            </a:r>
            <a:br/>
            <a:r>
              <a:t>证书要求: 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3794759"/>
            <a:ext cx="210312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至少满足3项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09160"/>
            <a:ext cx="18288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语言能力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6634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ECF0F1"/>
                </a:solidFill>
              </a:defRPr>
            </a:pPr>
            <a:r>
              <a:t>□ CET-4  □ CET-6  □ 专业八级</a:t>
            </a:r>
            <a:br/>
            <a:r>
              <a:t>□ 其他语种: _______________</a:t>
            </a:r>
            <a:br/>
            <a:r>
              <a:t>□ 无硬性要求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754880"/>
            <a:ext cx="210312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视岗位而定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669280"/>
            <a:ext cx="18288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薪资期望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6235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ECF0F1"/>
                </a:solidFill>
              </a:defRPr>
            </a:pPr>
            <a:r>
              <a:t>候选人期望: _______________</a:t>
            </a:r>
            <a:br/>
            <a:r>
              <a:t>岗位预算范围: _______________</a:t>
            </a:r>
            <a:br/>
            <a:r>
              <a:t>□ 超出预算则淘汰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5715000"/>
            <a:ext cx="210312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预算内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核心能力评估维度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5A5A6"/>
                </a:solidFill>
              </a:defRPr>
            </a:pPr>
            <a:r>
              <a:t>评分: 1(差) → 5(优秀)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评估维度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5943600" cy="45720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评估要点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1828800"/>
            <a:ext cx="1371600" cy="45720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权重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1828800"/>
            <a:ext cx="1371600" cy="45720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评分(1-5)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743200" cy="73152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专业能力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286000"/>
            <a:ext cx="5943600" cy="73152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专业知识深度与广度、行业理解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286000"/>
            <a:ext cx="1371600" cy="73152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07040" y="2286000"/>
            <a:ext cx="1371600" cy="73152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95A5A6"/>
                </a:solidFill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548640" y="3063240"/>
            <a:ext cx="2743200" cy="73152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项目经验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3063240"/>
            <a:ext cx="5943600" cy="73152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相关项目数量、复杂度、角色贡献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3063240"/>
            <a:ext cx="1371600" cy="73152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25%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07040" y="3063240"/>
            <a:ext cx="1371600" cy="73152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95A5A6"/>
                </a:solidFill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2743200" cy="73152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学习能力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840480"/>
            <a:ext cx="5943600" cy="73152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新技术掌握速度、自驱力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3840480"/>
            <a:ext cx="1371600" cy="73152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3840480"/>
            <a:ext cx="1371600" cy="73152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95A5A6"/>
                </a:solidFill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48640" y="4617720"/>
            <a:ext cx="2743200" cy="73152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沟通协作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4617720"/>
            <a:ext cx="5943600" cy="73152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团队合作、跨部门协调能力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4617720"/>
            <a:ext cx="1371600" cy="73152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0" y="4617720"/>
            <a:ext cx="1371600" cy="73152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95A5A6"/>
                </a:solidFill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548640" y="5394960"/>
            <a:ext cx="2743200" cy="73152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稳定性/潜力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5394960"/>
            <a:ext cx="5943600" cy="73152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职业规划清晰度、成长潜力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5394960"/>
            <a:ext cx="1371600" cy="73152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07040" y="5394960"/>
            <a:ext cx="1371600" cy="73152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95A5A6"/>
                </a:solidFill>
              </a:defRPr>
            </a:pPr>
          </a:p>
        </p:txBody>
      </p:sp>
      <p:sp>
        <p:nvSpPr>
          <p:cNvPr id="31" name="Rectangle 30"/>
          <p:cNvSpPr/>
          <p:nvPr/>
        </p:nvSpPr>
        <p:spPr>
          <a:xfrm>
            <a:off x="548640" y="6172200"/>
            <a:ext cx="2743200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总分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6172200"/>
            <a:ext cx="5943600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9235440" y="6172200"/>
            <a:ext cx="1371600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0" y="6172200"/>
            <a:ext cx="1371600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_____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加分项与减分项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5A5A6"/>
                </a:solidFill>
              </a:defRPr>
            </a:pPr>
            <a:r>
              <a:t>Bonus / Penalty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solidFill>
            <a:srgbClr val="20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✅  加分项 (+1 ~ +3 分)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CF0F1"/>
                </a:solidFill>
              </a:defRPr>
            </a:pPr>
            <a:r>
              <a:t>  知名大厂 / 行业头部企业工作经历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CF0F1"/>
                </a:solidFill>
              </a:defRPr>
            </a:pPr>
            <a:r>
              <a:t>  拥有相关专利或发表过技术文章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19856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CF0F1"/>
                </a:solidFill>
              </a:defRPr>
            </a:pPr>
            <a:r>
              <a:t>  有创业经历或参与开源项目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CF0F1"/>
                </a:solidFill>
              </a:defRPr>
            </a:pPr>
            <a:r>
              <a:t>  持有含金量高的专业认证 (PMP/CPA等)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70832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CF0F1"/>
                </a:solidFill>
              </a:defRPr>
            </a:pPr>
            <a:r>
              <a:t>  海外留学或跨国项目工作经验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CF0F1"/>
                </a:solidFill>
              </a:defRPr>
            </a:pPr>
            <a:r>
              <a:t>  面试过程中展现出极强的主动性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2180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CF0F1"/>
                </a:solidFill>
              </a:defRPr>
            </a:pPr>
            <a:r>
              <a:t>  推荐信 / 行业内良好口碑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solidFill>
            <a:srgbClr val="3D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❌  减分项 (-1 ~ -3 分)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CF0F1"/>
                </a:solidFill>
              </a:defRPr>
            </a:pPr>
            <a:r>
              <a:t>  频繁跳槽 (平均每份工作不到1年)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260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CF0F1"/>
                </a:solidFill>
              </a:defRPr>
            </a:pPr>
            <a:r>
              <a:t>  简历信息与实际不符 / 造假嫌疑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83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CF0F1"/>
                </a:solidFill>
              </a:defRPr>
            </a:pPr>
            <a:r>
              <a:t>  职业空窗期过长且无合理解释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840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CF0F1"/>
                </a:solidFill>
              </a:defRPr>
            </a:pPr>
            <a:r>
              <a:t>  履历中存在明显倒退 (职级/薪资)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297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CF0F1"/>
                </a:solidFill>
              </a:defRPr>
            </a:pPr>
            <a:r>
              <a:t>  面试态度消极、不配合或迟到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754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CF0F1"/>
                </a:solidFill>
              </a:defRPr>
            </a:pPr>
            <a:r>
              <a:t>  缺乏基本的职业素养和礼仪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2120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CF0F1"/>
                </a:solidFill>
              </a:defRPr>
            </a:pPr>
            <a:r>
              <a:t>  薪资期望严重偏离市场合理水平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669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CF0F1"/>
                </a:solidFill>
              </a:defRPr>
            </a:pPr>
            <a:r>
              <a:t>  过往项目成果模糊、无法量化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综合评分表 (模板示例)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5A5A6"/>
                </a:solidFill>
              </a:defRPr>
            </a:pPr>
            <a:r>
              <a:t>三位候选人横向对比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743200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评估项目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828800"/>
            <a:ext cx="1097280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权重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2560320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候选人A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828800"/>
            <a:ext cx="2560320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候选人B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19" y="1828800"/>
            <a:ext cx="2560320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候选人C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274320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学历匹配度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377440"/>
            <a:ext cx="109728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377440"/>
            <a:ext cx="256032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377440"/>
            <a:ext cx="256032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19" y="2377440"/>
            <a:ext cx="256032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80360"/>
            <a:ext cx="274320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工作经验匹配度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880360"/>
            <a:ext cx="109728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880360"/>
            <a:ext cx="256032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880360"/>
            <a:ext cx="256032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19" y="2880360"/>
            <a:ext cx="256032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274320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专业技能匹配度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383280"/>
            <a:ext cx="109728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383280"/>
            <a:ext cx="256032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383280"/>
            <a:ext cx="256032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19" y="3383280"/>
            <a:ext cx="256032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274320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项目经验相关性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3886200"/>
            <a:ext cx="109728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886200"/>
            <a:ext cx="256032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86200"/>
            <a:ext cx="256032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19" y="3886200"/>
            <a:ext cx="256032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综合素质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389120"/>
            <a:ext cx="109728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389120"/>
            <a:ext cx="256032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389120"/>
            <a:ext cx="256032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19" y="4389120"/>
            <a:ext cx="256032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92040"/>
            <a:ext cx="274320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加分项合计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4892040"/>
            <a:ext cx="109728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892040"/>
            <a:ext cx="256032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4892040"/>
            <a:ext cx="256032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19" y="4892040"/>
            <a:ext cx="256032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94960"/>
            <a:ext cx="274320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减分项合计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5394960"/>
            <a:ext cx="109728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5394960"/>
            <a:ext cx="256032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5394960"/>
            <a:ext cx="256032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19" y="5394960"/>
            <a:ext cx="2560320" cy="457200"/>
          </a:xfrm>
          <a:prstGeom prst="rect">
            <a:avLst/>
          </a:prstGeom>
          <a:solidFill>
            <a:srgbClr val="233445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897880"/>
            <a:ext cx="2743200" cy="502920"/>
          </a:xfrm>
          <a:prstGeom prst="rect">
            <a:avLst/>
          </a:prstGeom>
          <a:solidFill>
            <a:srgbClr val="27AE6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综合总分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5897880"/>
            <a:ext cx="1097280" cy="502920"/>
          </a:xfrm>
          <a:prstGeom prst="rect">
            <a:avLst/>
          </a:prstGeom>
          <a:solidFill>
            <a:srgbClr val="27AE6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5897880"/>
            <a:ext cx="2560320" cy="502920"/>
          </a:xfrm>
          <a:prstGeom prst="rect">
            <a:avLst/>
          </a:prstGeom>
          <a:solidFill>
            <a:srgbClr val="27AE6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5897880"/>
            <a:ext cx="2560320" cy="502920"/>
          </a:xfrm>
          <a:prstGeom prst="rect">
            <a:avLst/>
          </a:prstGeom>
          <a:solidFill>
            <a:srgbClr val="27AE6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19" y="5897880"/>
            <a:ext cx="2560320" cy="502920"/>
          </a:xfrm>
          <a:prstGeom prst="rect">
            <a:avLst/>
          </a:prstGeom>
          <a:solidFill>
            <a:srgbClr val="27AE60"/>
          </a:solidFill>
          <a:ln w="635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___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</a:defRPr>
            </a:pPr>
            <a:r>
              <a:t>备注: 每项按 1-5 分评分, 得分 = 评分 × 权重比例, 综合总分 = 各项得分之和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面试决策矩阵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5A5A6"/>
                </a:solidFill>
              </a:defRPr>
            </a:pPr>
            <a:r>
              <a:t>筛选结论与下一步行动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82880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≥ 85分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强烈推荐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34640" y="2240280"/>
            <a:ext cx="731520" cy="45720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48840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优先安排面试, 1个工作日内联系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828800" cy="7772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70-84分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推荐面试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34640" y="3246120"/>
            <a:ext cx="731520" cy="45720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3154680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纳入面试名单, 3个工作日内联系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828800" cy="7772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60-69分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待定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34640" y="4251960"/>
            <a:ext cx="731520" cy="457200"/>
          </a:xfrm>
          <a:prstGeom prst="rightArrow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160520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根据岗位紧急程度决定是否面试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1828800" cy="7772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&lt; 60分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不推荐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834640" y="5257800"/>
            <a:ext cx="731520" cy="45720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5166360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发送感谢信, 纳入人才库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t>最终决策: □ 录用  □ 进入下一轮  □ 淘汰  □ 放入人才库</a:t>
            </a:r>
          </a:p>
          <a:p>
            <a:pPr>
              <a:spcBef>
                <a:spcPts val="1200"/>
              </a:spcBef>
              <a:defRPr sz="1200">
                <a:solidFill>
                  <a:srgbClr val="95A5A6"/>
                </a:solidFill>
              </a:defRPr>
            </a:pPr>
            <a:r>
              <a:t>面试官签字: _______________      HR签字: _______________      日期: _______________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感谢使用简历筛选模板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E86C1"/>
                </a:solidFill>
              </a:defRPr>
            </a:pPr>
            <a:r>
              <a:t>科学筛选 · 客观评估 · 高效决策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